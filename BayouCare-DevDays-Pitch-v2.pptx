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youcare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1691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FC9AD"/>
                </a:solidFill>
                <a:latin typeface="Calibri" panose="020F0502020204030204"/>
              </a:rPr>
              <a:t>DEVDAYS LOUISIANA  ·  OCHSNER HEALTH CHALLENGE</a:t>
            </a:r>
            <a:endParaRPr sz="1200" b="1">
              <a:solidFill>
                <a:srgbClr val="8FC9AD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Georgia" panose="02040502050405020303"/>
              </a:rPr>
              <a:t>BayouCare</a:t>
            </a:r>
            <a:endParaRPr sz="6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D8F5E8"/>
                </a:solidFill>
                <a:latin typeface="Calibri" panose="020F0502020204030204"/>
              </a:rPr>
              <a:t>Making cancer care easier to navigate —</a:t>
            </a:r>
            <a:endParaRPr sz="2400" b="0">
              <a:solidFill>
                <a:srgbClr val="D8F5E8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D8F5E8"/>
                </a:solidFill>
                <a:latin typeface="Calibri" panose="020F0502020204030204"/>
              </a:rPr>
              <a:t>wherever patients live.</a:t>
            </a:r>
            <a:endParaRPr sz="24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2148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Patient-centered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54680" y="50749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5102352"/>
            <a:ext cx="2148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Louisiana-first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0" y="50749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5102352"/>
            <a:ext cx="2148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Clinic + population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8FC9AD"/>
                </a:solidFill>
                <a:latin typeface="Calibri" panose="020F0502020204030204"/>
              </a:rPr>
              <a:t>Cancer care navigation</a:t>
            </a:r>
            <a:endParaRPr sz="1100" b="0">
              <a:solidFill>
                <a:srgbClr val="8FC9AD"/>
              </a:solidFill>
              <a:latin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281160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4A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THE PROBLEM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6281C"/>
                </a:solidFill>
                <a:latin typeface="Georgia" panose="02040502050405020303"/>
              </a:rPr>
              <a:t>Meet Darlene.</a:t>
            </a:r>
            <a:endParaRPr sz="36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0350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6281C"/>
                </a:solidFill>
                <a:latin typeface="Georgia" panose="02040502050405020303"/>
              </a:rPr>
              <a:t>Darlene Fontenot</a:t>
            </a:r>
            <a:endParaRPr sz="26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Alexandria, LA  ·  Stage II breast cancer  ·  day 4 of chemo  ·  42 miles from clinic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05A3C"/>
                </a:solidFill>
                <a:latin typeface="Calibri" panose="020F0502020204030204"/>
              </a:rPr>
              <a:t>2:14 AM</a:t>
            </a:r>
            <a:endParaRPr sz="1400" b="1">
              <a:solidFill>
                <a:srgbClr val="E05A3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4241C"/>
                </a:solidFill>
                <a:latin typeface="Calibri" panose="020F0502020204030204"/>
              </a:rPr>
              <a:t>— a fever starts.</a:t>
            </a:r>
            <a:endParaRPr sz="1400" b="0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315468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7296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 panose="020F0502020204030204"/>
              </a:rPr>
              <a:t>Is this dangerous?</a:t>
            </a:r>
            <a:endParaRPr sz="13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8444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 panose="020F0502020204030204"/>
              </a:rPr>
              <a:t>Should she go to the ER?</a:t>
            </a:r>
            <a:endParaRPr sz="13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4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9592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 panose="020F0502020204030204"/>
              </a:rPr>
              <a:t>Who should she contact?</a:t>
            </a:r>
            <a:endParaRPr sz="13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0740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 panose="020F0502020204030204"/>
              </a:rPr>
              <a:t>How will she get there?</a:t>
            </a:r>
            <a:endParaRPr sz="13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800600"/>
            <a:ext cx="5394960" cy="347472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A3D2B"/>
                </a:solidFill>
                <a:latin typeface="Calibri" panose="020F0502020204030204"/>
              </a:rPr>
              <a:t>Does her care team know?</a:t>
            </a:r>
            <a:endParaRPr sz="13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040880" y="15544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6276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Symptoms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72600" y="15544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6276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Transportation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40880" y="21945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Appointments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372600" y="21945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Caregivers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040880" y="283464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9077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Clinics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372600" y="283464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9077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Resources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040880" y="3474719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54787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Treatment plans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372600" y="3474719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54787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A3424"/>
                </a:solidFill>
                <a:latin typeface="Calibri" panose="020F0502020204030204"/>
              </a:rPr>
              <a:t>Between-visit gaps</a:t>
            </a:r>
            <a:endParaRPr sz="12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40080" y="566928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79008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6281C"/>
                </a:solidFill>
                <a:latin typeface="Calibri" panose="020F0502020204030204"/>
              </a:rPr>
              <a:t>The patient is often responsible for connecting a healthcare system that was never designed to feel connected.</a:t>
            </a:r>
            <a:endParaRPr sz="14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Patient perspective first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37192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PROBLEM → SOLUTION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 panose="02040502050405020303"/>
              </a:rPr>
              <a:t>What gets in the way — and how BayouCare helps.</a:t>
            </a:r>
            <a:endParaRPr sz="2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212080" cy="411480"/>
          </a:xfrm>
          <a:prstGeom prst="roundRect">
            <a:avLst>
              <a:gd name="adj" fmla="val 12000"/>
            </a:avLst>
          </a:prstGeom>
          <a:solidFill>
            <a:srgbClr val="FBE5DD"/>
          </a:solidFill>
          <a:ln w="12700">
            <a:solidFill>
              <a:srgbClr val="E8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A3424"/>
                </a:solidFill>
                <a:latin typeface="Calibri" panose="020F0502020204030204"/>
              </a:rPr>
              <a:t>The problem</a:t>
            </a:r>
            <a:endParaRPr sz="1400" b="1">
              <a:solidFill>
                <a:srgbClr val="7A3424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6520" y="1143000"/>
            <a:ext cx="5212080" cy="41148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A3D2B"/>
                </a:solidFill>
                <a:latin typeface="Calibri" panose="020F0502020204030204"/>
              </a:rPr>
              <a:t>How BayouCare helps</a:t>
            </a:r>
            <a:endParaRPr sz="14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41C"/>
                </a:solidFill>
                <a:latin typeface="Calibri" panose="020F0502020204030204"/>
              </a:rPr>
              <a:t>Limited access — patients live far from clinics and specialists</a:t>
            </a:r>
            <a:endParaRPr sz="1200" b="1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440" y="182880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46520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43948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Bridges the gap between patients, caregivers, and clinicians in one 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phone-first journey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2441448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41C"/>
                </a:solidFill>
                <a:latin typeface="Calibri" panose="020F0502020204030204"/>
              </a:rPr>
              <a:t>Fragmented information across apps, calls, and paperwork</a:t>
            </a:r>
            <a:endParaRPr sz="1200" b="1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0644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46520" y="2441448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3288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Keeps the care plan, check-ins, and team updates in one coordinated place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3191256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82696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41C"/>
                </a:solidFill>
                <a:latin typeface="Calibri" panose="020F0502020204030204"/>
              </a:rPr>
              <a:t>Concerning symptoms go unseen between visits</a:t>
            </a:r>
            <a:endParaRPr sz="1200" b="1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06440" y="3328416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46520" y="3191256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82696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Surfaces risk early so the care team can respond before an ER trip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3941064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32504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41C"/>
                </a:solidFill>
                <a:latin typeface="Calibri" panose="020F0502020204030204"/>
              </a:rPr>
              <a:t>Transportation and logistics block treatment</a:t>
            </a:r>
            <a:endParaRPr sz="1200" b="1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06440" y="407822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46520" y="3941064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032504"/>
            <a:ext cx="448754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Connects rides and support actions into the clinic workflow — not a 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separate chase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690872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8231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41C"/>
                </a:solidFill>
                <a:latin typeface="Calibri" panose="020F0502020204030204"/>
              </a:rPr>
              <a:t>Families don't know how to help</a:t>
            </a:r>
            <a:endParaRPr sz="1200" b="1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06440" y="4828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46520" y="4690872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78231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Gives caregivers a clear role: shared tasks, updates, and next steps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44068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5321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41C"/>
                </a:solidFill>
                <a:latin typeface="Calibri" panose="020F0502020204030204"/>
              </a:rPr>
              <a:t>Clinics lack visibility into who needs help now</a:t>
            </a:r>
            <a:endParaRPr sz="1200" b="1">
              <a:solidFill>
                <a:srgbClr val="14241C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06440" y="557784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46520" y="544068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32120"/>
            <a:ext cx="423227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Shows 7-day risk with a concrete next action — and parish-level 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  <a:p>
            <a:pPr algn="l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access gaps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Gaps closed by one connected platform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93224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THE SOLUTION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6281C"/>
                </a:solidFill>
                <a:latin typeface="Georgia" panose="02040502050405020303"/>
              </a:rPr>
              <a:t>One platform. One care journey.</a:t>
            </a:r>
            <a:endParaRPr sz="32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1635A"/>
                </a:solidFill>
                <a:latin typeface="Calibri" panose="020F0502020204030204"/>
              </a:rPr>
              <a:t>BayouCare connects the person receiving care with the people responsible for delivering it.</a:t>
            </a:r>
            <a:endParaRPr sz="16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 panose="020F0502020204030204"/>
              </a:rPr>
              <a:t>Patient</a:t>
            </a:r>
            <a:endParaRPr sz="16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Symptom check-ins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Treatment journey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Appointments &amp; guidance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Resources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11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 panose="020F0502020204030204"/>
              </a:rPr>
              <a:t>Caregiver</a:t>
            </a:r>
            <a:endParaRPr sz="16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0840" y="23774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Shared updates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Task coordination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Transportation help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Support circle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 panose="020F0502020204030204"/>
              </a:rPr>
              <a:t>Clinic</a:t>
            </a:r>
            <a:endParaRPr sz="16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Risk visibility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Intervention workflow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Prior-auth &amp; ops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Between-visit monitoring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2240" y="416052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343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A3D2B"/>
                </a:solidFill>
                <a:latin typeface="Calibri" panose="020F0502020204030204"/>
              </a:rPr>
              <a:t>Population health</a:t>
            </a:r>
            <a:endParaRPr sz="16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0840" y="470916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Parish-level insights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Access gaps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Outreach planning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•  Geographic trends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60" y="324612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429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 panose="02040502050405020303"/>
              </a:rPr>
              <a:t>BayouCare</a:t>
            </a:r>
            <a:endParaRPr sz="2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9160" y="3886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8F5E8"/>
                </a:solidFill>
                <a:latin typeface="Calibri" panose="020F0502020204030204"/>
              </a:rPr>
              <a:t>care navigation</a:t>
            </a:r>
            <a:endParaRPr sz="12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Not another dashboard — a connected journey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9256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HOW IT WORKS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6281C"/>
                </a:solidFill>
                <a:latin typeface="Georgia" panose="02040502050405020303"/>
              </a:rPr>
              <a:t>From a check-in to coordinated support.</a:t>
            </a:r>
            <a:endParaRPr sz="30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 panose="020F0502020204030204"/>
              </a:rPr>
              <a:t>1</a:t>
            </a:r>
            <a:endParaRPr sz="14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 panose="020F0502020204030204"/>
              </a:rPr>
              <a:t>Patient checks in</a:t>
            </a:r>
            <a:endParaRPr sz="15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90563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Symptoms and how they're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feeling — in minutes, on a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phone.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8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 panose="020F0502020204030204"/>
              </a:rPr>
              <a:t>2</a:t>
            </a:r>
            <a:endParaRPr sz="14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 panose="020F0502020204030204"/>
              </a:rPr>
              <a:t>Risk surfaces</a:t>
            </a:r>
            <a:endParaRPr sz="15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26080" y="3246120"/>
            <a:ext cx="195961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BayouCare flags concerning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changes that need attention.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7492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5780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 panose="020F0502020204030204"/>
              </a:rPr>
              <a:t>3</a:t>
            </a:r>
            <a:endParaRPr sz="14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5780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 panose="020F0502020204030204"/>
              </a:rPr>
              <a:t>Care team sees it</a:t>
            </a:r>
            <a:endParaRPr sz="15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57800" y="3246120"/>
            <a:ext cx="185166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Earlier visibility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between visits — not after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an ER trip.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06640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9520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 panose="020F0502020204030204"/>
              </a:rPr>
              <a:t>4</a:t>
            </a:r>
            <a:endParaRPr sz="14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0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 panose="020F0502020204030204"/>
              </a:rPr>
              <a:t>Support connects</a:t>
            </a:r>
            <a:endParaRPr sz="15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89520" y="3246120"/>
            <a:ext cx="19989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Rides, caregivers, clinics, and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resources can move together.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64040" y="2926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9567"/>
                </a:solidFill>
                <a:latin typeface="Calibri" panose="020F0502020204030204"/>
              </a:rPr>
              <a:t>→</a:t>
            </a:r>
            <a:endParaRPr sz="18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738359" y="155448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21239" y="1783080"/>
            <a:ext cx="411480" cy="411480"/>
          </a:xfrm>
          <a:prstGeom prst="ellipse">
            <a:avLst/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39" y="181051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A3D2B"/>
                </a:solidFill>
                <a:latin typeface="Calibri" panose="020F0502020204030204"/>
              </a:rPr>
              <a:t>5</a:t>
            </a:r>
            <a:endParaRPr sz="14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39" y="23774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 panose="020F0502020204030204"/>
              </a:rPr>
              <a:t>Patterns emerge</a:t>
            </a:r>
            <a:endParaRPr sz="15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21239" y="3246120"/>
            <a:ext cx="188595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Parish insights show where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patients struggle 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1635A"/>
                </a:solidFill>
                <a:latin typeface="Calibri" panose="020F0502020204030204"/>
              </a:rPr>
              <a:t>geographically.</a:t>
            </a:r>
            <a:endParaRPr sz="12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212080"/>
            <a:ext cx="3840480" cy="59436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30352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Let's see it in action  →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Story → live product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05288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PRODUCT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6281C"/>
                </a:solidFill>
                <a:latin typeface="Georgia" panose="02040502050405020303"/>
              </a:rPr>
              <a:t>From one patient to an entire population.</a:t>
            </a:r>
            <a:endParaRPr sz="30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4114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6B4C"/>
                </a:solidFill>
                <a:latin typeface="Calibri" panose="020F0502020204030204"/>
              </a:rPr>
              <a:t>PATIENT</a:t>
            </a:r>
            <a:endParaRPr sz="11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 panose="02040502050405020303"/>
              </a:rPr>
              <a:t>My Care</a:t>
            </a:r>
            <a:endParaRPr sz="22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35724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Check-ins, vitals, family help, Remi guidance — 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what matters today.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42062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3D2B"/>
                </a:solidFill>
                <a:latin typeface="Calibri" panose="020F0502020204030204"/>
              </a:rPr>
              <a:t>Live in demo</a:t>
            </a:r>
            <a:endParaRPr sz="11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566160" cy="4114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6B4C"/>
                </a:solidFill>
                <a:latin typeface="Calibri" panose="020F0502020204030204"/>
              </a:rPr>
              <a:t>CLINIC</a:t>
            </a:r>
            <a:endParaRPr sz="11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331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 panose="02040502050405020303"/>
              </a:rPr>
              <a:t>Care Team + Ops</a:t>
            </a:r>
            <a:endParaRPr sz="22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2926080"/>
            <a:ext cx="297116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7-day risk with a prescription, prior-auth, 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schedule risk — one model.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63440" y="42062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24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3D2B"/>
                </a:solidFill>
                <a:latin typeface="Calibri" panose="020F0502020204030204"/>
              </a:rPr>
              <a:t>Live in demo</a:t>
            </a:r>
            <a:endParaRPr sz="11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0" y="141732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417320"/>
            <a:ext cx="3566160" cy="4114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11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6B4C"/>
                </a:solidFill>
                <a:latin typeface="Calibri" panose="020F0502020204030204"/>
              </a:rPr>
              <a:t>POPULATION</a:t>
            </a:r>
            <a:endParaRPr sz="11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8200" y="2331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 panose="02040502050405020303"/>
              </a:rPr>
              <a:t>64 parishes</a:t>
            </a:r>
            <a:endParaRPr sz="22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58200" y="2926080"/>
            <a:ext cx="315023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Unmet-need heat index — outreach follows 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burden, not city size.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58200" y="42062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D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224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3D2B"/>
                </a:solidFill>
                <a:latin typeface="Calibri" panose="020F0502020204030204"/>
              </a:rPr>
              <a:t>Live in demo</a:t>
            </a:r>
            <a:endParaRPr sz="11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Switching to the live product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8F5E8"/>
                </a:solidFill>
                <a:latin typeface="Calibri" panose="020F0502020204030204"/>
              </a:rPr>
              <a:t>Working prototype — synthetic clinical data · real parish sources labeled on screen</a:t>
            </a:r>
            <a:endParaRPr sz="12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0" y="5257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→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UI hero is the running app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61320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WHY BAYOUCARE IS DIFFERENT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 panose="02040502050405020303"/>
              </a:rPr>
              <a:t>Most tools solve one part. We connect the journey.</a:t>
            </a:r>
            <a:endParaRPr sz="2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9567"/>
                </a:solidFill>
                <a:latin typeface="Calibri" panose="020F0502020204030204"/>
              </a:rPr>
              <a:t>INDIVIDUAL</a:t>
            </a:r>
            <a:endParaRPr sz="11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Patient navigation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35661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Symptom awareness, plain-language guidance, 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family support on a phone.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9567"/>
                </a:solidFill>
                <a:latin typeface="Calibri" panose="020F0502020204030204"/>
              </a:rPr>
              <a:t>CARE TEAM</a:t>
            </a:r>
            <a:endParaRPr sz="11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Coordination &amp; intervention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96037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Risk forecasts with actionable next steps, 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shared with clinic ops.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737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9567"/>
                </a:solidFill>
                <a:latin typeface="Calibri" panose="020F0502020204030204"/>
              </a:rPr>
              <a:t>COMMUNITY</a:t>
            </a:r>
            <a:endParaRPr sz="11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58200" y="20574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Population insight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200" y="2697480"/>
            <a:ext cx="321119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Louisiana parish visibility so resources follow 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unmet need.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Phone-first accessibility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47472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Patient + caregiver + clinic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Rural logistics in-product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0" y="411480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24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3D2B"/>
                </a:solidFill>
                <a:latin typeface="Calibri" panose="020F0502020204030204"/>
              </a:rPr>
              <a:t>Louisiana geographic context</a:t>
            </a:r>
            <a:endParaRPr sz="1200" b="1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6281C"/>
                </a:solidFill>
                <a:latin typeface="Georgia" panose="02040502050405020303"/>
              </a:rPr>
              <a:t>One care story across three altitudes of healthcare.</a:t>
            </a:r>
            <a:endParaRPr sz="20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Connected, not bolted-on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17352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TECHNOLOGY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 panose="02040502050405020303"/>
              </a:rPr>
              <a:t>Built like a real healthcare platform.</a:t>
            </a:r>
            <a:endParaRPr sz="2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 panose="020F0502020204030204"/>
              </a:rPr>
              <a:t>EXPERIENCE</a:t>
            </a:r>
            <a:endParaRPr sz="1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 panose="020F0502020204030204"/>
              </a:rPr>
              <a:t>Patient app · Caregiver / family · Care Team · Clinic Ops · Population map</a:t>
            </a:r>
            <a:endParaRPr sz="1200" b="0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 panose="020F0502020204030204"/>
              </a:rPr>
              <a:t>APPLICATION</a:t>
            </a:r>
            <a:endParaRPr sz="1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72072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 panose="020F0502020204030204"/>
              </a:rPr>
              <a:t>Auth (Clerk + session) · Symptom check-ins · Risk / counterfactuals · Care coordination · Geospatial · Remi (</a:t>
            </a:r>
            <a:r>
              <a:rPr lang="en-US" sz="1200" b="0">
                <a:solidFill>
                  <a:srgbClr val="0A3D2B"/>
                </a:solidFill>
                <a:latin typeface="Calibri" panose="020F0502020204030204"/>
              </a:rPr>
              <a:t>Claude</a:t>
            </a:r>
            <a:r>
              <a:rPr sz="1200" b="0">
                <a:solidFill>
                  <a:srgbClr val="0A3D2B"/>
                </a:solidFill>
                <a:latin typeface="Calibri" panose="020F0502020204030204"/>
              </a:rPr>
              <a:t>)</a:t>
            </a:r>
            <a:endParaRPr sz="1200" b="0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92608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9923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 panose="020F0502020204030204"/>
              </a:rPr>
              <a:t>DATA</a:t>
            </a:r>
            <a:endParaRPr sz="1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 panose="020F0502020204030204"/>
              </a:rPr>
              <a:t>Neon Postgres · Patient / clinic state · Parish / CDC sources · Synthetic demo cohort</a:t>
            </a:r>
            <a:endParaRPr sz="1200" b="0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 panose="020F0502020204030204"/>
              </a:rPr>
              <a:t>EXTERNAL</a:t>
            </a:r>
            <a:endParaRPr sz="1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 panose="020F0502020204030204"/>
              </a:rPr>
              <a:t>MapLibre + Carto · ClinicalTrials.gov · DeepSeek API · Notifications / SMS demo</a:t>
            </a:r>
            <a:endParaRPr sz="1200" b="0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4663440"/>
            <a:ext cx="7589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9567"/>
                </a:solidFill>
                <a:latin typeface="Calibri" panose="020F0502020204030204"/>
              </a:rPr>
              <a:t>INFRASTRUCTURE</a:t>
            </a:r>
            <a:endParaRPr sz="10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A3D2B"/>
                </a:solidFill>
                <a:latin typeface="Calibri" panose="020F0502020204030204"/>
              </a:rPr>
              <a:t>Vercel · Serverless APIs · Vite + React 19 · TypeScript</a:t>
            </a:r>
            <a:endParaRPr sz="1200" b="0">
              <a:solidFill>
                <a:srgbClr val="0A3D2B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21040" y="1188720"/>
            <a:ext cx="3383280" cy="4572000"/>
          </a:xfrm>
          <a:prstGeom prst="roundRect">
            <a:avLst>
              <a:gd name="adj" fmla="val 12000"/>
            </a:avLst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417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 panose="02040502050405020303"/>
              </a:rPr>
              <a:t>Working stack</a:t>
            </a:r>
            <a:endParaRPr sz="18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1874519"/>
            <a:ext cx="302196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8F5E8"/>
                </a:solidFill>
                <a:latin typeface="Calibri" panose="020F0502020204030204"/>
              </a:rPr>
              <a:t>Deployed end-to-end — not a clickable </a:t>
            </a:r>
            <a:endParaRPr sz="1200" b="0">
              <a:solidFill>
                <a:srgbClr val="D8F5E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D8F5E8"/>
                </a:solidFill>
                <a:latin typeface="Calibri" panose="020F0502020204030204"/>
              </a:rPr>
              <a:t>mock. Same risk engine drives Care Team and </a:t>
            </a:r>
            <a:endParaRPr sz="1200" b="0">
              <a:solidFill>
                <a:srgbClr val="D8F5E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D8F5E8"/>
                </a:solidFill>
                <a:latin typeface="Calibri" panose="020F0502020204030204"/>
              </a:rPr>
              <a:t>Clinic Ops.</a:t>
            </a:r>
            <a:endParaRPr sz="12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9640" y="2926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Frontend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0" y="2926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 panose="020F0502020204030204"/>
              </a:rPr>
              <a:t>React · Vite · Tailwind</a:t>
            </a:r>
            <a:endParaRPr sz="11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49640" y="331012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Auth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0" y="331012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 panose="020F0502020204030204"/>
              </a:rPr>
              <a:t>Clerk</a:t>
            </a:r>
            <a:endParaRPr sz="11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49640" y="369417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Data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0" y="3694176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 panose="020F0502020204030204"/>
              </a:rPr>
              <a:t>Neon Postgres</a:t>
            </a:r>
            <a:endParaRPr sz="11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49640" y="4078224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Maps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200" y="4078224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 panose="020F0502020204030204"/>
              </a:rPr>
              <a:t>MapLibre · Leaflet</a:t>
            </a:r>
            <a:endParaRPr sz="11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49640" y="446227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AI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75925" y="4462272"/>
            <a:ext cx="94551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100" b="0">
                <a:solidFill>
                  <a:srgbClr val="D8F5E8"/>
                </a:solidFill>
                <a:latin typeface="Calibri" panose="020F0502020204030204"/>
              </a:rPr>
              <a:t>Claude</a:t>
            </a:r>
            <a:r>
              <a:rPr sz="1100" b="0">
                <a:solidFill>
                  <a:srgbClr val="D8F5E8"/>
                </a:solidFill>
                <a:latin typeface="Calibri" panose="020F0502020204030204"/>
              </a:rPr>
              <a:t>(Remi)</a:t>
            </a:r>
            <a:endParaRPr sz="11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49640" y="48463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Host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01200" y="4846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8F5E8"/>
                </a:solidFill>
                <a:latin typeface="Calibri" panose="020F0502020204030204"/>
              </a:rPr>
              <a:t>Vercel Functions</a:t>
            </a:r>
            <a:endParaRPr sz="1100" b="0">
              <a:solidFill>
                <a:srgbClr val="D8F5E8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Confirmed project technologies only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73384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2941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6B4C"/>
                </a:solidFill>
                <a:latin typeface="Calibri" panose="020F0502020204030204"/>
              </a:rPr>
              <a:t>IMPACT</a:t>
            </a:r>
            <a:endParaRPr sz="12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6281C"/>
                </a:solidFill>
                <a:latin typeface="Georgia" panose="02040502050405020303"/>
              </a:rPr>
              <a:t>More navigation. Earlier support. More good days.</a:t>
            </a:r>
            <a:endParaRPr sz="2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6B4C"/>
                </a:solidFill>
                <a:latin typeface="Calibri" panose="020F0502020204030204"/>
              </a:rPr>
              <a:t>For patients</a:t>
            </a:r>
            <a:endParaRPr sz="13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28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Less confusion navigating 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care.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6118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6B4C"/>
                </a:solidFill>
                <a:latin typeface="Calibri" panose="020F0502020204030204"/>
              </a:rPr>
              <a:t>For care teams</a:t>
            </a:r>
            <a:endParaRPr sz="13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09181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Better visibility between 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visits.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6118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6B4C"/>
                </a:solidFill>
                <a:latin typeface="Calibri" panose="020F0502020204030204"/>
              </a:rPr>
              <a:t>For health systems</a:t>
            </a:r>
            <a:endParaRPr sz="1300" b="1">
              <a:solidFill>
                <a:srgbClr val="0F6B4C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27990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Clearer view of where 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  <a:p>
            <a:pPr algn="l"/>
            <a:r>
              <a:rPr sz="1800" b="1">
                <a:solidFill>
                  <a:srgbClr val="06281C"/>
                </a:solidFill>
                <a:latin typeface="Georgia" panose="02040502050405020303"/>
              </a:rPr>
              <a:t>support is needed.</a:t>
            </a:r>
            <a:endParaRPr sz="18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10881360" cy="1325880"/>
          </a:xfrm>
          <a:prstGeom prst="roundRect">
            <a:avLst>
              <a:gd name="adj" fmla="val 12000"/>
            </a:avLst>
          </a:prstGeom>
          <a:solidFill>
            <a:srgbClr val="EEFBF4"/>
          </a:solidFill>
          <a:ln w="12700">
            <a:solidFill>
              <a:srgbClr val="C5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6281C"/>
                </a:solidFill>
                <a:latin typeface="Calibri" panose="020F0502020204030204"/>
              </a:rPr>
              <a:t>Start with Louisiana. Build a model that can scale anywhere geography makes healthcare harder to reach.</a:t>
            </a:r>
            <a:endParaRPr sz="1500" b="1">
              <a:solidFill>
                <a:srgbClr val="06281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1635A"/>
                </a:solidFill>
                <a:latin typeface="Calibri" panose="020F0502020204030204"/>
              </a:rPr>
              <a:t>Next step: pilot BayouCare with healthcare partners and real patient-navigation workflows.</a:t>
            </a:r>
            <a:endParaRPr sz="13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6281C"/>
                </a:solidFill>
                <a:latin typeface="Georgia" panose="02040502050405020303"/>
              </a:rPr>
              <a:t>Cancer is difficult enough. Navigating care shouldn't be.</a:t>
            </a:r>
            <a:endParaRPr sz="2200" b="1">
              <a:solidFill>
                <a:srgbClr val="06281C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9567"/>
                </a:solidFill>
                <a:latin typeface="Calibri" panose="020F0502020204030204"/>
              </a:rPr>
              <a:t>BayouCare  ·  DevDays 2026</a:t>
            </a:r>
            <a:endParaRPr sz="1400" b="1">
              <a:solidFill>
                <a:srgbClr val="14956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1635A"/>
                </a:solidFill>
                <a:latin typeface="Calibri" panose="020F0502020204030204"/>
              </a:rPr>
              <a:t>Thank you</a:t>
            </a:r>
            <a:endParaRPr sz="1100" b="0">
              <a:solidFill>
                <a:srgbClr val="51635A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28116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3719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9322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49256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05288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17352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73384" y="6510528"/>
            <a:ext cx="128016" cy="128016"/>
          </a:xfrm>
          <a:prstGeom prst="ellipse">
            <a:avLst/>
          </a:prstGeom>
          <a:solidFill>
            <a:srgbClr val="C5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29416" y="6510528"/>
            <a:ext cx="256032" cy="128016"/>
          </a:xfrm>
          <a:prstGeom prst="ellipse">
            <a:avLst/>
          </a:prstGeom>
          <a:solidFill>
            <a:srgbClr val="149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4855</Words>
  <Application>WPS Presentation</Application>
  <PresentationFormat>On-screen Show (4:3)</PresentationFormat>
  <Paragraphs>361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umehc</cp:lastModifiedBy>
  <cp:revision>2</cp:revision>
  <dcterms:created xsi:type="dcterms:W3CDTF">2013-01-27T09:14:00Z</dcterms:created>
  <dcterms:modified xsi:type="dcterms:W3CDTF">2026-09-24T20:27:32Z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1256901120B7445B8489C63F3D68AA49_12</vt:lpwstr>
  </property>
  <property fmtid="{D5CDD505-2E9C-101B-9397-08002B2CF9AE}" pid="3" name="KSOProductBuildVer">
    <vt:lpwstr>1033-12.1.0.28485</vt:lpwstr>
  </property>
</Properties>
</file>