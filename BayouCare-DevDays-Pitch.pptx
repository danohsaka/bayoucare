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youca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5156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03120" y="1691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8FC9AD"/>
                </a:solidFill>
                <a:latin typeface="Calibri"/>
              </a:rPr>
              <a:t>DEVDAYS LOUISIANA  ·  OCHSNER HEALTH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Georgia"/>
              </a:rPr>
              <a:t>BayouCare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D8F5E8"/>
                </a:solidFill>
                <a:latin typeface="Calibri"/>
              </a:rPr>
              <a:t>Making cancer care easier to navigate —</a:t>
            </a: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D8F5E8"/>
                </a:solidFill>
                <a:latin typeface="Calibri"/>
              </a:rPr>
              <a:t>wherever patients live.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102352"/>
            <a:ext cx="2148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Patient-centered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5074920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5102352"/>
            <a:ext cx="2148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Louisiana-first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5074920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5102352"/>
            <a:ext cx="2148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Clinic + population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8FC9AD"/>
                </a:solidFill>
                <a:latin typeface="Calibri"/>
              </a:rPr>
              <a:t>Cancer care navigation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0" y="6510528"/>
            <a:ext cx="256032" cy="128016"/>
          </a:xfrm>
          <a:prstGeom prst="ellipse">
            <a:avLst/>
          </a:prstGeom>
          <a:solidFill>
            <a:srgbClr val="149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765792" y="6510528"/>
            <a:ext cx="128016" cy="128016"/>
          </a:xfrm>
          <a:prstGeom prst="ellipse">
            <a:avLst/>
          </a:prstGeom>
          <a:solidFill>
            <a:srgbClr val="4A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21824" y="6510528"/>
            <a:ext cx="128016" cy="128016"/>
          </a:xfrm>
          <a:prstGeom prst="ellipse">
            <a:avLst/>
          </a:prstGeom>
          <a:solidFill>
            <a:srgbClr val="4A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77856" y="6510528"/>
            <a:ext cx="128016" cy="128016"/>
          </a:xfrm>
          <a:prstGeom prst="ellipse">
            <a:avLst/>
          </a:prstGeom>
          <a:solidFill>
            <a:srgbClr val="4A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33888" y="6510528"/>
            <a:ext cx="128016" cy="128016"/>
          </a:xfrm>
          <a:prstGeom prst="ellipse">
            <a:avLst/>
          </a:prstGeom>
          <a:solidFill>
            <a:srgbClr val="4A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0" y="6510528"/>
            <a:ext cx="128016" cy="128016"/>
          </a:xfrm>
          <a:prstGeom prst="ellipse">
            <a:avLst/>
          </a:prstGeom>
          <a:solidFill>
            <a:srgbClr val="4A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45952" y="6510528"/>
            <a:ext cx="128016" cy="128016"/>
          </a:xfrm>
          <a:prstGeom prst="ellipse">
            <a:avLst/>
          </a:prstGeom>
          <a:solidFill>
            <a:srgbClr val="4A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6510528"/>
            <a:ext cx="128016" cy="128016"/>
          </a:xfrm>
          <a:prstGeom prst="ellipse">
            <a:avLst/>
          </a:prstGeom>
          <a:solidFill>
            <a:srgbClr val="4A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6B4C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6281C"/>
                </a:solidFill>
                <a:latin typeface="Georgia"/>
              </a:rPr>
              <a:t>Meet Darlene.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603504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6281C"/>
                </a:solidFill>
                <a:latin typeface="Georgia"/>
              </a:rPr>
              <a:t>Darlene Fontenot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1635A"/>
                </a:solidFill>
                <a:latin typeface="Calibri"/>
              </a:rPr>
              <a:t>Alexandria, LA  ·  Stage II breast cancer  ·  day 4 of chemo  ·  42 miles from clinic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05A3C"/>
                </a:solidFill>
                <a:latin typeface="Calibri"/>
              </a:rPr>
              <a:t>2:14 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743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4241C"/>
                </a:solidFill>
                <a:latin typeface="Calibri"/>
              </a:rPr>
              <a:t>— a fever starts.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54680"/>
            <a:ext cx="5394960" cy="347472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72968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A3D2B"/>
                </a:solidFill>
                <a:latin typeface="Calibri"/>
              </a:rPr>
              <a:t>Is this dangerous?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66160"/>
            <a:ext cx="5394960" cy="347472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84448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A3D2B"/>
                </a:solidFill>
                <a:latin typeface="Calibri"/>
              </a:rPr>
              <a:t>Should she go to the ER?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40"/>
            <a:ext cx="5394960" cy="347472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95928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A3D2B"/>
                </a:solidFill>
                <a:latin typeface="Calibri"/>
              </a:rPr>
              <a:t>Who should she contact?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89120"/>
            <a:ext cx="5394960" cy="347472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407408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A3D2B"/>
                </a:solidFill>
                <a:latin typeface="Calibri"/>
              </a:rPr>
              <a:t>How will she get there?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800600"/>
            <a:ext cx="5394960" cy="347472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18888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A3D2B"/>
                </a:solidFill>
                <a:latin typeface="Calibri"/>
              </a:rPr>
              <a:t>Does her care team know?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155448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BE5DD"/>
          </a:solidFill>
          <a:ln w="12700">
            <a:solidFill>
              <a:srgbClr val="E8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62763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A3424"/>
                </a:solidFill>
                <a:latin typeface="Calibri"/>
              </a:rPr>
              <a:t>Symptoms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155448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BE5DD"/>
          </a:solidFill>
          <a:ln w="12700">
            <a:solidFill>
              <a:srgbClr val="E8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62763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A3424"/>
                </a:solidFill>
                <a:latin typeface="Calibri"/>
              </a:rPr>
              <a:t>Transportation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19456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BE5DD"/>
          </a:solidFill>
          <a:ln w="12700">
            <a:solidFill>
              <a:srgbClr val="E8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2677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A3424"/>
                </a:solidFill>
                <a:latin typeface="Calibri"/>
              </a:rPr>
              <a:t>Appointments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219456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BE5DD"/>
          </a:solidFill>
          <a:ln w="12700">
            <a:solidFill>
              <a:srgbClr val="E8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22677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A3424"/>
                </a:solidFill>
                <a:latin typeface="Calibri"/>
              </a:rPr>
              <a:t>Caregivers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283464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BE5DD"/>
          </a:solidFill>
          <a:ln w="12700">
            <a:solidFill>
              <a:srgbClr val="E8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290779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A3424"/>
                </a:solidFill>
                <a:latin typeface="Calibri"/>
              </a:rPr>
              <a:t>Clinics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283464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BE5DD"/>
          </a:solidFill>
          <a:ln w="12700">
            <a:solidFill>
              <a:srgbClr val="E8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290779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A3424"/>
                </a:solidFill>
                <a:latin typeface="Calibri"/>
              </a:rPr>
              <a:t>Resources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3474719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BE5DD"/>
          </a:solidFill>
          <a:ln w="12700">
            <a:solidFill>
              <a:srgbClr val="E8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3547871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A3424"/>
                </a:solidFill>
                <a:latin typeface="Calibri"/>
              </a:rPr>
              <a:t>Treatment plans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72600" y="3474719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BE5DD"/>
          </a:solidFill>
          <a:ln w="12700">
            <a:solidFill>
              <a:srgbClr val="E8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3547871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A3424"/>
                </a:solidFill>
                <a:latin typeface="Calibri"/>
              </a:rPr>
              <a:t>Between-visit gaps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669280"/>
            <a:ext cx="10881360" cy="6400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779008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6281C"/>
                </a:solidFill>
                <a:latin typeface="Calibri"/>
              </a:rPr>
              <a:t>The patient is often responsible for connecting a healthcare system that was never designed to feel connected.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1635A"/>
                </a:solidFill>
                <a:latin typeface="Calibri"/>
              </a:rPr>
              <a:t>Patient perspective first</a:t>
            </a:r>
          </a:p>
        </p:txBody>
      </p:sp>
      <p:sp>
        <p:nvSpPr>
          <p:cNvPr id="39" name="Oval 38"/>
          <p:cNvSpPr/>
          <p:nvPr/>
        </p:nvSpPr>
        <p:spPr>
          <a:xfrm>
            <a:off x="950976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765792" y="6510528"/>
            <a:ext cx="256032" cy="128016"/>
          </a:xfrm>
          <a:prstGeom prst="ellipse">
            <a:avLst/>
          </a:prstGeom>
          <a:solidFill>
            <a:srgbClr val="149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2182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7785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33888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78992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4595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30198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6B4C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6281C"/>
                </a:solidFill>
                <a:latin typeface="Georgia"/>
              </a:rPr>
              <a:t>One platform. One care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51635A"/>
                </a:solidFill>
                <a:latin typeface="Calibri"/>
              </a:rPr>
              <a:t>BayouCare connects the person receiving care with the people responsible for delivering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292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A3D2B"/>
                </a:solidFill>
                <a:latin typeface="Calibri"/>
              </a:rPr>
              <a:t>Patient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/>
              </a:rPr>
              <a:t>•  Symptom check-ins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/>
              </a:rPr>
              <a:t>•  Treatment journey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/>
              </a:rPr>
              <a:t>•  Appointments &amp; guidance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/>
              </a:rPr>
              <a:t>•  Resources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50292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0116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A3D2B"/>
                </a:solidFill>
                <a:latin typeface="Calibri"/>
              </a:rPr>
              <a:t>Caregiver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3774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/>
              </a:rPr>
              <a:t>•  Shared updates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/>
              </a:rPr>
              <a:t>•  Task coordination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/>
              </a:rPr>
              <a:t>•  Transportation help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/>
              </a:rPr>
              <a:t>•  Support circle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60520"/>
            <a:ext cx="50292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A3D2B"/>
                </a:solidFill>
                <a:latin typeface="Calibri"/>
              </a:rPr>
              <a:t>Clinic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/>
              </a:rPr>
              <a:t>•  Risk visibility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/>
              </a:rPr>
              <a:t>•  Intervention workflow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/>
              </a:rPr>
              <a:t>•  Prior-auth &amp; ops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/>
              </a:rPr>
              <a:t>•  Between-visit monitoring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160520"/>
            <a:ext cx="50292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43434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A3D2B"/>
                </a:solidFill>
                <a:latin typeface="Calibri"/>
              </a:rPr>
              <a:t>Population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70916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/>
              </a:rPr>
              <a:t>•  Parish-level insights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/>
              </a:rPr>
              <a:t>•  Access gaps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/>
              </a:rPr>
              <a:t>•  Outreach planning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/>
              </a:rPr>
              <a:t>•  Geographic trends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324612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429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BayouCare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8862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D8F5E8"/>
                </a:solidFill>
                <a:latin typeface="Calibri"/>
              </a:rPr>
              <a:t>care navigation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1635A"/>
                </a:solidFill>
                <a:latin typeface="Calibri"/>
              </a:rPr>
              <a:t>Not another dashboard — a connected journey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6579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21824" y="6510528"/>
            <a:ext cx="256032" cy="128016"/>
          </a:xfrm>
          <a:prstGeom prst="ellipse">
            <a:avLst/>
          </a:prstGeom>
          <a:solidFill>
            <a:srgbClr val="149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7785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33888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78992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04595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0198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6B4C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6281C"/>
                </a:solidFill>
                <a:latin typeface="Georgia"/>
              </a:rPr>
              <a:t>From a check-in to coordinated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21945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783080"/>
            <a:ext cx="411480" cy="411480"/>
          </a:xfrm>
          <a:prstGeom prst="ellipse">
            <a:avLst/>
          </a:prstGeom>
          <a:solidFill>
            <a:srgbClr val="D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1051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A3D2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6281C"/>
                </a:solidFill>
                <a:latin typeface="Calibri"/>
              </a:rPr>
              <a:t>Patient checks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1635A"/>
                </a:solidFill>
                <a:latin typeface="Calibri"/>
              </a:rPr>
              <a:t>Symptoms and how they're feeling — in minutes, on a phone.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9260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49567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554480"/>
            <a:ext cx="21945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26080" y="1783080"/>
            <a:ext cx="411480" cy="411480"/>
          </a:xfrm>
          <a:prstGeom prst="ellipse">
            <a:avLst/>
          </a:prstGeom>
          <a:solidFill>
            <a:srgbClr val="D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81051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A3D2B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3774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6281C"/>
                </a:solidFill>
                <a:latin typeface="Calibri"/>
              </a:rPr>
              <a:t>Risk surfaces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4612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1635A"/>
                </a:solidFill>
                <a:latin typeface="Calibri"/>
              </a:rPr>
              <a:t>BayouCare flags concerning changes that need attention.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9260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49567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1554480"/>
            <a:ext cx="21945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57800" y="1783080"/>
            <a:ext cx="411480" cy="411480"/>
          </a:xfrm>
          <a:prstGeom prst="ellipse">
            <a:avLst/>
          </a:prstGeom>
          <a:solidFill>
            <a:srgbClr val="D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181051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A3D2B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3774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6281C"/>
                </a:solidFill>
                <a:latin typeface="Calibri"/>
              </a:rPr>
              <a:t>Care team sees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24612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1635A"/>
                </a:solidFill>
                <a:latin typeface="Calibri"/>
              </a:rPr>
              <a:t>Earlier visibility between visits — not after an ER trip.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9260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49567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554480"/>
            <a:ext cx="21945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89520" y="1783080"/>
            <a:ext cx="411480" cy="411480"/>
          </a:xfrm>
          <a:prstGeom prst="ellipse">
            <a:avLst/>
          </a:prstGeom>
          <a:solidFill>
            <a:srgbClr val="D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181051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A3D2B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3774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6281C"/>
                </a:solidFill>
                <a:latin typeface="Calibri"/>
              </a:rPr>
              <a:t>Support connects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24612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1635A"/>
                </a:solidFill>
                <a:latin typeface="Calibri"/>
              </a:rPr>
              <a:t>Rides, caregivers, clinics, and resources can move together.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9260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4956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38359" y="1554480"/>
            <a:ext cx="21945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21239" y="1783080"/>
            <a:ext cx="411480" cy="411480"/>
          </a:xfrm>
          <a:prstGeom prst="ellipse">
            <a:avLst/>
          </a:prstGeom>
          <a:solidFill>
            <a:srgbClr val="D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39" y="181051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A3D2B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39" y="23774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6281C"/>
                </a:solidFill>
                <a:latin typeface="Calibri"/>
              </a:rPr>
              <a:t>Patterns emerge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39" y="324612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1635A"/>
                </a:solidFill>
                <a:latin typeface="Calibri"/>
              </a:rPr>
              <a:t>Parish insights show where patients struggle geographically.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212080"/>
            <a:ext cx="3840480" cy="594360"/>
          </a:xfrm>
          <a:prstGeom prst="roundRect">
            <a:avLst>
              <a:gd name="adj" fmla="val 12000"/>
            </a:avLst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303520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Let's see it in action  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1635A"/>
                </a:solidFill>
                <a:latin typeface="Calibri"/>
              </a:rPr>
              <a:t>Story → live product</a:t>
            </a:r>
          </a:p>
        </p:txBody>
      </p:sp>
      <p:sp>
        <p:nvSpPr>
          <p:cNvPr id="37" name="Oval 36"/>
          <p:cNvSpPr/>
          <p:nvPr/>
        </p:nvSpPr>
        <p:spPr>
          <a:xfrm>
            <a:off x="950976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6579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2182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77856" y="6510528"/>
            <a:ext cx="256032" cy="128016"/>
          </a:xfrm>
          <a:prstGeom prst="ellipse">
            <a:avLst/>
          </a:prstGeom>
          <a:solidFill>
            <a:srgbClr val="149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33888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78992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4595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0198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6B4C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6281C"/>
                </a:solidFill>
                <a:latin typeface="Georgia"/>
              </a:rPr>
              <a:t>From one patient to an entire population.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6616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66160" cy="4114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F6B4C"/>
                </a:solidFill>
                <a:latin typeface="Calibri"/>
              </a:rPr>
              <a:t>PATIENT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6281C"/>
                </a:solidFill>
                <a:latin typeface="Georgia"/>
              </a:rPr>
              <a:t>My 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1635A"/>
                </a:solidFill>
                <a:latin typeface="Calibri"/>
              </a:rPr>
              <a:t>Check-ins, vitals, family help, Remi guidance — what matters today.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206240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D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224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3D2B"/>
                </a:solidFill>
                <a:latin typeface="Calibri"/>
              </a:rPr>
              <a:t>Live in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56616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566160" cy="4114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0116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F6B4C"/>
                </a:solidFill>
                <a:latin typeface="Calibri"/>
              </a:rPr>
              <a:t>CLINIC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317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6281C"/>
                </a:solidFill>
                <a:latin typeface="Georgia"/>
              </a:rPr>
              <a:t>Care Team + 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92608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1635A"/>
                </a:solidFill>
                <a:latin typeface="Calibri"/>
              </a:rPr>
              <a:t>7-day risk with a prescription, prior-auth, schedule risk — one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206240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D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224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3D2B"/>
                </a:solidFill>
                <a:latin typeface="Calibri"/>
              </a:rPr>
              <a:t>Live in demo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417320"/>
            <a:ext cx="356616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0" y="1417320"/>
            <a:ext cx="3566160" cy="4114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0116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F6B4C"/>
                </a:solidFill>
                <a:latin typeface="Calibri"/>
              </a:rPr>
              <a:t>POPULATION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3317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6281C"/>
                </a:solidFill>
                <a:latin typeface="Georgia"/>
              </a:rPr>
              <a:t>64 parishes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92608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1635A"/>
                </a:solidFill>
                <a:latin typeface="Calibri"/>
              </a:rPr>
              <a:t>Unmet-need heat index — outreach follows burden, not city size.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4206240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D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4224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3D2B"/>
                </a:solidFill>
                <a:latin typeface="Calibri"/>
              </a:rPr>
              <a:t>Live in demo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12000"/>
            </a:avLst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Switching to the live 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778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D8F5E8"/>
                </a:solidFill>
                <a:latin typeface="Calibri"/>
              </a:rPr>
              <a:t>Working prototype — synthetic clinical data · real parish sources labeled on screen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5257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1635A"/>
                </a:solidFill>
                <a:latin typeface="Calibri"/>
              </a:rPr>
              <a:t>UI hero is the running app</a:t>
            </a:r>
          </a:p>
        </p:txBody>
      </p:sp>
      <p:sp>
        <p:nvSpPr>
          <p:cNvPr id="31" name="Oval 30"/>
          <p:cNvSpPr/>
          <p:nvPr/>
        </p:nvSpPr>
        <p:spPr>
          <a:xfrm>
            <a:off x="950976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6579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2182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7785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533888" y="6510528"/>
            <a:ext cx="256032" cy="128016"/>
          </a:xfrm>
          <a:prstGeom prst="ellipse">
            <a:avLst/>
          </a:prstGeom>
          <a:solidFill>
            <a:srgbClr val="149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8992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04595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0198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6B4C"/>
                </a:solidFill>
                <a:latin typeface="Calibri"/>
              </a:rPr>
              <a:t>WHY BAYOUCARE 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6281C"/>
                </a:solidFill>
                <a:latin typeface="Georgia"/>
              </a:rPr>
              <a:t>Most tools solve one part. We connect the journey.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6118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9567"/>
                </a:solidFill>
                <a:latin typeface="Calibri"/>
              </a:rPr>
              <a:t>INDIVIDUAL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6281C"/>
                </a:solidFill>
                <a:latin typeface="Georgia"/>
              </a:rPr>
              <a:t>Patient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1635A"/>
                </a:solidFill>
                <a:latin typeface="Calibri"/>
              </a:rPr>
              <a:t>Symptom awareness, plain-language guidance, family support on a phone.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6118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373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9567"/>
                </a:solidFill>
                <a:latin typeface="Calibri"/>
              </a:rPr>
              <a:t>CARE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5740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6281C"/>
                </a:solidFill>
                <a:latin typeface="Georgia"/>
              </a:rPr>
              <a:t>Coordination &amp; intervention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9748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1635A"/>
                </a:solidFill>
                <a:latin typeface="Calibri"/>
              </a:rPr>
              <a:t>Risk forecasts with actionable next steps, shared with clinic ops.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6118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7373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9567"/>
                </a:solidFill>
                <a:latin typeface="Calibri"/>
              </a:rPr>
              <a:t>COMMUNITY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5740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6281C"/>
                </a:solidFill>
                <a:latin typeface="Georgia"/>
              </a:rPr>
              <a:t>Population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69748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1635A"/>
                </a:solidFill>
                <a:latin typeface="Calibri"/>
              </a:rPr>
              <a:t>Louisiana parish visibility so resources follow unmet need.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2697480" cy="6400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2452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A3D2B"/>
                </a:solidFill>
                <a:latin typeface="Calibri"/>
              </a:rPr>
              <a:t>Phone-first accessibility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4114800"/>
            <a:ext cx="2697480" cy="6400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22452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A3D2B"/>
                </a:solidFill>
                <a:latin typeface="Calibri"/>
              </a:rPr>
              <a:t>Patient + caregiver + clinic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114800"/>
            <a:ext cx="2697480" cy="6400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22452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A3D2B"/>
                </a:solidFill>
                <a:latin typeface="Calibri"/>
              </a:rPr>
              <a:t>Rural logistics in-product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4114800"/>
            <a:ext cx="2697480" cy="6400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22452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A3D2B"/>
                </a:solidFill>
                <a:latin typeface="Calibri"/>
              </a:rPr>
              <a:t>Louisiana geographic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74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6281C"/>
                </a:solidFill>
                <a:latin typeface="Georgia"/>
              </a:rPr>
              <a:t>One care story across three altitudes of healthcare.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1635A"/>
                </a:solidFill>
                <a:latin typeface="Calibri"/>
              </a:rPr>
              <a:t>Connected, not bolted-on</a:t>
            </a:r>
          </a:p>
        </p:txBody>
      </p:sp>
      <p:sp>
        <p:nvSpPr>
          <p:cNvPr id="27" name="Oval 26"/>
          <p:cNvSpPr/>
          <p:nvPr/>
        </p:nvSpPr>
        <p:spPr>
          <a:xfrm>
            <a:off x="950976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6579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2182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7785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33888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89920" y="6510528"/>
            <a:ext cx="256032" cy="128016"/>
          </a:xfrm>
          <a:prstGeom prst="ellipse">
            <a:avLst/>
          </a:prstGeom>
          <a:solidFill>
            <a:srgbClr val="149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04595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0198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6B4C"/>
                </a:solidFill>
                <a:latin typeface="Calibr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6281C"/>
                </a:solidFill>
                <a:latin typeface="Georgia"/>
              </a:rPr>
              <a:t>Built like a real healthcare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75895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7223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9567"/>
                </a:solidFill>
                <a:latin typeface="Calibri"/>
              </a:rPr>
              <a:t>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7223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A3D2B"/>
                </a:solidFill>
                <a:latin typeface="Calibri"/>
              </a:rPr>
              <a:t>Patient app · Caregiver / family · Care Team · Clinic Ops · Population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75895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30552"/>
            <a:ext cx="7223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9567"/>
                </a:solidFill>
                <a:latin typeface="Calibri"/>
              </a:rP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7223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A3D2B"/>
                </a:solidFill>
                <a:latin typeface="Calibri"/>
              </a:rPr>
              <a:t>Auth (Clerk + session) · Symptom check-ins · Risk / counterfactuals · Care coordination · Geospatial · Remi (DeepSeek)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26080"/>
            <a:ext cx="75895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99232"/>
            <a:ext cx="7223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9567"/>
                </a:solidFill>
                <a:latin typeface="Calibri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7223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A3D2B"/>
                </a:solidFill>
                <a:latin typeface="Calibri"/>
              </a:rPr>
              <a:t>Neon Postgres · Patient / clinic state · Parish / CDC sources · Synthetic demo cohort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94760"/>
            <a:ext cx="75895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67912"/>
            <a:ext cx="7223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9567"/>
                </a:solidFill>
                <a:latin typeface="Calibri"/>
              </a:rPr>
              <a:t>EXTERNAL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7223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A3D2B"/>
                </a:solidFill>
                <a:latin typeface="Calibri"/>
              </a:rPr>
              <a:t>MapLibre + Carto · ClinicalTrials.gov · DeepSeek API · Notifications / SMS 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663440"/>
            <a:ext cx="75895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736592"/>
            <a:ext cx="7223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9567"/>
                </a:solidFill>
                <a:latin typeface="Calibri"/>
              </a:rPr>
              <a:t>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83480"/>
            <a:ext cx="7223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A3D2B"/>
                </a:solidFill>
                <a:latin typeface="Calibri"/>
              </a:rPr>
              <a:t>Vercel · Serverless APIs · Vite + React 19 · TypeScript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188720"/>
            <a:ext cx="3383280" cy="4572000"/>
          </a:xfrm>
          <a:prstGeom prst="roundRect">
            <a:avLst>
              <a:gd name="adj" fmla="val 12000"/>
            </a:avLst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4173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orgia"/>
              </a:rPr>
              <a:t>Working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1874519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D8F5E8"/>
                </a:solidFill>
                <a:latin typeface="Calibri"/>
              </a:rPr>
              <a:t>Deployed end-to-end — not a clickable mock. Same risk engine drives Care Team and Clinic Ops.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9260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9260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8F5E8"/>
                </a:solidFill>
                <a:latin typeface="Calibri"/>
              </a:rPr>
              <a:t>React · Vite · Tailwind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31012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31012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8F5E8"/>
                </a:solidFill>
                <a:latin typeface="Calibri"/>
              </a:rPr>
              <a:t>Clerk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69417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694176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8F5E8"/>
                </a:solidFill>
                <a:latin typeface="Calibri"/>
              </a:rPr>
              <a:t>Neon Postgres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078224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4078224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8F5E8"/>
                </a:solidFill>
                <a:latin typeface="Calibri"/>
              </a:rPr>
              <a:t>MapLibre · Leaflet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46227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46227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8F5E8"/>
                </a:solidFill>
                <a:latin typeface="Calibri"/>
              </a:rPr>
              <a:t>DeepSeek (Remi)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8463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Host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8463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8F5E8"/>
                </a:solidFill>
                <a:latin typeface="Calibri"/>
              </a:rPr>
              <a:t>Vercel Functions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1635A"/>
                </a:solidFill>
                <a:latin typeface="Calibri"/>
              </a:rPr>
              <a:t>Confirmed project technologies only</a:t>
            </a:r>
          </a:p>
        </p:txBody>
      </p:sp>
      <p:sp>
        <p:nvSpPr>
          <p:cNvPr id="36" name="Oval 35"/>
          <p:cNvSpPr/>
          <p:nvPr/>
        </p:nvSpPr>
        <p:spPr>
          <a:xfrm>
            <a:off x="950976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6579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2182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7785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33888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8992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045952" y="6510528"/>
            <a:ext cx="256032" cy="128016"/>
          </a:xfrm>
          <a:prstGeom prst="ellipse">
            <a:avLst/>
          </a:prstGeom>
          <a:solidFill>
            <a:srgbClr val="149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30198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6B4C"/>
                </a:solidFill>
                <a:latin typeface="Calibr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6281C"/>
                </a:solidFill>
                <a:latin typeface="Georgia"/>
              </a:rPr>
              <a:t>More navigation. Earlier support. More good days.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6118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6B4C"/>
                </a:solidFill>
                <a:latin typeface="Calibri"/>
              </a:rPr>
              <a:t>For 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6281C"/>
                </a:solidFill>
                <a:latin typeface="Georgia"/>
              </a:rPr>
              <a:t>Less confusion navigating care.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6118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6B4C"/>
                </a:solidFill>
                <a:latin typeface="Calibri"/>
              </a:rPr>
              <a:t>For care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6281C"/>
                </a:solidFill>
                <a:latin typeface="Georgia"/>
              </a:rPr>
              <a:t>Better visibility between visits.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54480"/>
            <a:ext cx="36118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783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6B4C"/>
                </a:solidFill>
                <a:latin typeface="Calibri"/>
              </a:rPr>
              <a:t>For health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19456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6281C"/>
                </a:solidFill>
                <a:latin typeface="Georgia"/>
              </a:rPr>
              <a:t>Clearer view of where support is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10881360" cy="13258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6281C"/>
                </a:solidFill>
                <a:latin typeface="Calibri"/>
              </a:rPr>
              <a:t>Start with Louisiana. Build a model that can scale anywhere geography makes healthcare harder to reach.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1635A"/>
                </a:solidFill>
                <a:latin typeface="Calibri"/>
              </a:rPr>
              <a:t>Next step: pilot BayouCare with healthcare partners and real patient-navigation workflows.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6281C"/>
                </a:solidFill>
                <a:latin typeface="Georgia"/>
              </a:rPr>
              <a:t>Cancer is difficult enough. Navigating care shouldn't be.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9567"/>
                </a:solidFill>
                <a:latin typeface="Calibri"/>
              </a:rPr>
              <a:t>BayouCare  ·  DevDays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1635A"/>
                </a:solidFill>
                <a:latin typeface="Calibri"/>
              </a:rPr>
              <a:t>Thank you</a:t>
            </a:r>
          </a:p>
        </p:txBody>
      </p:sp>
      <p:sp>
        <p:nvSpPr>
          <p:cNvPr id="20" name="Oval 19"/>
          <p:cNvSpPr/>
          <p:nvPr/>
        </p:nvSpPr>
        <p:spPr>
          <a:xfrm>
            <a:off x="950976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6579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2182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7785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33888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8992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04595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01984" y="6510528"/>
            <a:ext cx="256032" cy="128016"/>
          </a:xfrm>
          <a:prstGeom prst="ellipse">
            <a:avLst/>
          </a:prstGeom>
          <a:solidFill>
            <a:srgbClr val="149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